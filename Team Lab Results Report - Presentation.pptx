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17" d="100"/>
          <a:sy n="117" d="100"/>
        </p:scale>
        <p:origin x="35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336B9-96BE-0476-3350-7A70318BFE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091E1C46-D6BD-41D1-9DEF-821C517054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9927C8B5-9D19-21F1-C5D5-68B2C1D0E34E}"/>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5" name="Footer Placeholder 4">
            <a:extLst>
              <a:ext uri="{FF2B5EF4-FFF2-40B4-BE49-F238E27FC236}">
                <a16:creationId xmlns:a16="http://schemas.microsoft.com/office/drawing/2014/main" id="{1DEF2F81-D5E7-4E68-D8BD-E26141DB3121}"/>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ECF05A49-C3A9-D0A4-6A8D-8C6E6C6498FF}"/>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4193142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1815B-E60E-3A32-0F3B-6C9DD1C833A1}"/>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ED4A593A-AC99-61C3-534B-4FA361F6BA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2B1871AC-82D1-AEFE-AFFE-867C6039DF16}"/>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5" name="Footer Placeholder 4">
            <a:extLst>
              <a:ext uri="{FF2B5EF4-FFF2-40B4-BE49-F238E27FC236}">
                <a16:creationId xmlns:a16="http://schemas.microsoft.com/office/drawing/2014/main" id="{0674B2FE-E509-B31F-D211-5A69DAE53340}"/>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14B23077-9374-4A8E-5C02-9B071E9D5924}"/>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298936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4A887-8412-F03D-4BA5-578946B152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t-BR"/>
          </a:p>
        </p:txBody>
      </p:sp>
      <p:sp>
        <p:nvSpPr>
          <p:cNvPr id="3" name="Text Placeholder 2">
            <a:extLst>
              <a:ext uri="{FF2B5EF4-FFF2-40B4-BE49-F238E27FC236}">
                <a16:creationId xmlns:a16="http://schemas.microsoft.com/office/drawing/2014/main" id="{9FD5A7C7-1551-101A-3257-E95FA86A07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6372FF-2C2A-DF2B-98E0-E8A5BA07047D}"/>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5" name="Footer Placeholder 4">
            <a:extLst>
              <a:ext uri="{FF2B5EF4-FFF2-40B4-BE49-F238E27FC236}">
                <a16:creationId xmlns:a16="http://schemas.microsoft.com/office/drawing/2014/main" id="{5A26167A-8BA2-9895-328A-A5F89F1930CB}"/>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86E46F49-836F-F12D-AAE1-DEA7664025AD}"/>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493881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26D56-0828-0F91-991F-755F35E1A2DA}"/>
              </a:ext>
            </a:extLst>
          </p:cNvPr>
          <p:cNvSpPr>
            <a:spLocks noGrp="1"/>
          </p:cNvSpPr>
          <p:nvPr>
            <p:ph type="title"/>
          </p:nvPr>
        </p:nvSpPr>
        <p:spPr/>
        <p:txBody>
          <a:bodyPr/>
          <a:lstStyle/>
          <a:p>
            <a:r>
              <a:rPr lang="en-US"/>
              <a:t>Click to edit Master title style</a:t>
            </a:r>
            <a:endParaRPr lang="pt-BR"/>
          </a:p>
        </p:txBody>
      </p:sp>
      <p:sp>
        <p:nvSpPr>
          <p:cNvPr id="3" name="Content Placeholder 2">
            <a:extLst>
              <a:ext uri="{FF2B5EF4-FFF2-40B4-BE49-F238E27FC236}">
                <a16:creationId xmlns:a16="http://schemas.microsoft.com/office/drawing/2014/main" id="{0A14B813-3D5E-D320-8749-FFD055DEDC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Content Placeholder 3">
            <a:extLst>
              <a:ext uri="{FF2B5EF4-FFF2-40B4-BE49-F238E27FC236}">
                <a16:creationId xmlns:a16="http://schemas.microsoft.com/office/drawing/2014/main" id="{FC5BF915-07AB-678C-D7D0-1F2CB8EE55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Date Placeholder 4">
            <a:extLst>
              <a:ext uri="{FF2B5EF4-FFF2-40B4-BE49-F238E27FC236}">
                <a16:creationId xmlns:a16="http://schemas.microsoft.com/office/drawing/2014/main" id="{00494689-53C5-DD91-AB95-B18EBF0FA64B}"/>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6" name="Footer Placeholder 5">
            <a:extLst>
              <a:ext uri="{FF2B5EF4-FFF2-40B4-BE49-F238E27FC236}">
                <a16:creationId xmlns:a16="http://schemas.microsoft.com/office/drawing/2014/main" id="{AB2794E9-FE2C-58A0-775D-4EB80D25967F}"/>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8E3AD19B-2118-D865-A0B0-468B2EE042AA}"/>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305660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FB364-BE83-5B73-E10D-79A7A6ED0982}"/>
              </a:ext>
            </a:extLst>
          </p:cNvPr>
          <p:cNvSpPr>
            <a:spLocks noGrp="1"/>
          </p:cNvSpPr>
          <p:nvPr>
            <p:ph type="title"/>
          </p:nvPr>
        </p:nvSpPr>
        <p:spPr>
          <a:xfrm>
            <a:off x="839788" y="365125"/>
            <a:ext cx="10515600" cy="1325563"/>
          </a:xfrm>
        </p:spPr>
        <p:txBody>
          <a:bodyPr/>
          <a:lstStyle/>
          <a:p>
            <a:r>
              <a:rPr lang="en-US"/>
              <a:t>Click to edit Master title style</a:t>
            </a:r>
            <a:endParaRPr lang="pt-BR"/>
          </a:p>
        </p:txBody>
      </p:sp>
      <p:sp>
        <p:nvSpPr>
          <p:cNvPr id="3" name="Text Placeholder 2">
            <a:extLst>
              <a:ext uri="{FF2B5EF4-FFF2-40B4-BE49-F238E27FC236}">
                <a16:creationId xmlns:a16="http://schemas.microsoft.com/office/drawing/2014/main" id="{55DE62B7-B687-2B22-F2A9-EE88B85825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E2D30A-2AA4-1AB0-09AE-FC3A4EA52A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5" name="Text Placeholder 4">
            <a:extLst>
              <a:ext uri="{FF2B5EF4-FFF2-40B4-BE49-F238E27FC236}">
                <a16:creationId xmlns:a16="http://schemas.microsoft.com/office/drawing/2014/main" id="{4A244C0B-FE26-7C0E-4E0A-8A7D0E3622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05C528-F244-8B5D-5519-8BCEF8E740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7" name="Date Placeholder 6">
            <a:extLst>
              <a:ext uri="{FF2B5EF4-FFF2-40B4-BE49-F238E27FC236}">
                <a16:creationId xmlns:a16="http://schemas.microsoft.com/office/drawing/2014/main" id="{AEB52848-17AF-CC7C-322F-E149990E2456}"/>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8" name="Footer Placeholder 7">
            <a:extLst>
              <a:ext uri="{FF2B5EF4-FFF2-40B4-BE49-F238E27FC236}">
                <a16:creationId xmlns:a16="http://schemas.microsoft.com/office/drawing/2014/main" id="{585C1C78-34E1-55ED-316E-19ECA4809543}"/>
              </a:ext>
            </a:extLst>
          </p:cNvPr>
          <p:cNvSpPr>
            <a:spLocks noGrp="1"/>
          </p:cNvSpPr>
          <p:nvPr>
            <p:ph type="ftr" sz="quarter" idx="11"/>
          </p:nvPr>
        </p:nvSpPr>
        <p:spPr/>
        <p:txBody>
          <a:bodyPr/>
          <a:lstStyle/>
          <a:p>
            <a:endParaRPr lang="pt-BR"/>
          </a:p>
        </p:txBody>
      </p:sp>
      <p:sp>
        <p:nvSpPr>
          <p:cNvPr id="9" name="Slide Number Placeholder 8">
            <a:extLst>
              <a:ext uri="{FF2B5EF4-FFF2-40B4-BE49-F238E27FC236}">
                <a16:creationId xmlns:a16="http://schemas.microsoft.com/office/drawing/2014/main" id="{61CD73AA-9800-BF2D-B359-BEBEB91F8DAC}"/>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950781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3019-4361-9883-9E3B-75868B8F9031}"/>
              </a:ext>
            </a:extLst>
          </p:cNvPr>
          <p:cNvSpPr>
            <a:spLocks noGrp="1"/>
          </p:cNvSpPr>
          <p:nvPr>
            <p:ph type="title"/>
          </p:nvPr>
        </p:nvSpPr>
        <p:spPr/>
        <p:txBody>
          <a:bodyPr/>
          <a:lstStyle/>
          <a:p>
            <a:r>
              <a:rPr lang="en-US"/>
              <a:t>Click to edit Master title style</a:t>
            </a:r>
            <a:endParaRPr lang="pt-BR"/>
          </a:p>
        </p:txBody>
      </p:sp>
      <p:sp>
        <p:nvSpPr>
          <p:cNvPr id="3" name="Date Placeholder 2">
            <a:extLst>
              <a:ext uri="{FF2B5EF4-FFF2-40B4-BE49-F238E27FC236}">
                <a16:creationId xmlns:a16="http://schemas.microsoft.com/office/drawing/2014/main" id="{DFBDA67C-5933-910F-F798-1E2072799655}"/>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4" name="Footer Placeholder 3">
            <a:extLst>
              <a:ext uri="{FF2B5EF4-FFF2-40B4-BE49-F238E27FC236}">
                <a16:creationId xmlns:a16="http://schemas.microsoft.com/office/drawing/2014/main" id="{CFC9E73E-B3C2-61C3-C199-0225523E17F8}"/>
              </a:ext>
            </a:extLst>
          </p:cNvPr>
          <p:cNvSpPr>
            <a:spLocks noGrp="1"/>
          </p:cNvSpPr>
          <p:nvPr>
            <p:ph type="ftr" sz="quarter" idx="11"/>
          </p:nvPr>
        </p:nvSpPr>
        <p:spPr/>
        <p:txBody>
          <a:bodyPr/>
          <a:lstStyle/>
          <a:p>
            <a:endParaRPr lang="pt-BR"/>
          </a:p>
        </p:txBody>
      </p:sp>
      <p:sp>
        <p:nvSpPr>
          <p:cNvPr id="5" name="Slide Number Placeholder 4">
            <a:extLst>
              <a:ext uri="{FF2B5EF4-FFF2-40B4-BE49-F238E27FC236}">
                <a16:creationId xmlns:a16="http://schemas.microsoft.com/office/drawing/2014/main" id="{384AB4FE-5321-12C9-6014-6E5231FA814B}"/>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2505669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F97070-7F2F-3A5E-0B02-087238C47986}"/>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3" name="Footer Placeholder 2">
            <a:extLst>
              <a:ext uri="{FF2B5EF4-FFF2-40B4-BE49-F238E27FC236}">
                <a16:creationId xmlns:a16="http://schemas.microsoft.com/office/drawing/2014/main" id="{7B7BA2CA-5FC2-37F7-EB34-57DBC5A5A3DA}"/>
              </a:ext>
            </a:extLst>
          </p:cNvPr>
          <p:cNvSpPr>
            <a:spLocks noGrp="1"/>
          </p:cNvSpPr>
          <p:nvPr>
            <p:ph type="ftr" sz="quarter" idx="11"/>
          </p:nvPr>
        </p:nvSpPr>
        <p:spPr/>
        <p:txBody>
          <a:bodyPr/>
          <a:lstStyle/>
          <a:p>
            <a:endParaRPr lang="pt-BR"/>
          </a:p>
        </p:txBody>
      </p:sp>
      <p:sp>
        <p:nvSpPr>
          <p:cNvPr id="4" name="Slide Number Placeholder 3">
            <a:extLst>
              <a:ext uri="{FF2B5EF4-FFF2-40B4-BE49-F238E27FC236}">
                <a16:creationId xmlns:a16="http://schemas.microsoft.com/office/drawing/2014/main" id="{8937E707-137C-3F22-474D-8B0193FA2069}"/>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216363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0D0F3-380D-4701-3DC7-EA14849DC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Content Placeholder 2">
            <a:extLst>
              <a:ext uri="{FF2B5EF4-FFF2-40B4-BE49-F238E27FC236}">
                <a16:creationId xmlns:a16="http://schemas.microsoft.com/office/drawing/2014/main" id="{B8D4C8F4-3BF0-DE02-651D-AE7A257B3D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Text Placeholder 3">
            <a:extLst>
              <a:ext uri="{FF2B5EF4-FFF2-40B4-BE49-F238E27FC236}">
                <a16:creationId xmlns:a16="http://schemas.microsoft.com/office/drawing/2014/main" id="{A43C5DC6-C129-3320-913A-36D63AF358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BBAF0F-78C6-10B1-35EF-C85EA1C35A56}"/>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6" name="Footer Placeholder 5">
            <a:extLst>
              <a:ext uri="{FF2B5EF4-FFF2-40B4-BE49-F238E27FC236}">
                <a16:creationId xmlns:a16="http://schemas.microsoft.com/office/drawing/2014/main" id="{2B3ACCDF-AF84-2124-02CC-B0DC84E43177}"/>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94ED84CB-AFCB-C8AE-54AA-FFF42DA8BD09}"/>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744713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B6D15-E465-6EEE-3AC8-AC7DE38E6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t-BR"/>
          </a:p>
        </p:txBody>
      </p:sp>
      <p:sp>
        <p:nvSpPr>
          <p:cNvPr id="3" name="Picture Placeholder 2">
            <a:extLst>
              <a:ext uri="{FF2B5EF4-FFF2-40B4-BE49-F238E27FC236}">
                <a16:creationId xmlns:a16="http://schemas.microsoft.com/office/drawing/2014/main" id="{018C5550-92D3-F997-0CD8-CB2C502E0F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Text Placeholder 3">
            <a:extLst>
              <a:ext uri="{FF2B5EF4-FFF2-40B4-BE49-F238E27FC236}">
                <a16:creationId xmlns:a16="http://schemas.microsoft.com/office/drawing/2014/main" id="{C0F2B148-179F-C5A4-03CF-31995946B7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F09F87-2D1E-08BF-06BB-3BC42BD6BFFB}"/>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6" name="Footer Placeholder 5">
            <a:extLst>
              <a:ext uri="{FF2B5EF4-FFF2-40B4-BE49-F238E27FC236}">
                <a16:creationId xmlns:a16="http://schemas.microsoft.com/office/drawing/2014/main" id="{20B49018-BE7F-72B0-4A2A-141C3B805037}"/>
              </a:ext>
            </a:extLst>
          </p:cNvPr>
          <p:cNvSpPr>
            <a:spLocks noGrp="1"/>
          </p:cNvSpPr>
          <p:nvPr>
            <p:ph type="ftr" sz="quarter" idx="11"/>
          </p:nvPr>
        </p:nvSpPr>
        <p:spPr/>
        <p:txBody>
          <a:bodyPr/>
          <a:lstStyle/>
          <a:p>
            <a:endParaRPr lang="pt-BR"/>
          </a:p>
        </p:txBody>
      </p:sp>
      <p:sp>
        <p:nvSpPr>
          <p:cNvPr id="7" name="Slide Number Placeholder 6">
            <a:extLst>
              <a:ext uri="{FF2B5EF4-FFF2-40B4-BE49-F238E27FC236}">
                <a16:creationId xmlns:a16="http://schemas.microsoft.com/office/drawing/2014/main" id="{0F894EF7-45BC-0A29-2AD8-8A579FDE3902}"/>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834756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3ED08-E793-79FB-F527-EADB6B751863}"/>
              </a:ext>
            </a:extLst>
          </p:cNvPr>
          <p:cNvSpPr>
            <a:spLocks noGrp="1"/>
          </p:cNvSpPr>
          <p:nvPr>
            <p:ph type="title"/>
          </p:nvPr>
        </p:nvSpPr>
        <p:spPr/>
        <p:txBody>
          <a:bodyPr/>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B2F4A11E-E2EF-09FD-56C1-589BD578A7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6F4F5F0A-5A81-8DF7-BAE3-051D8FB7AE0A}"/>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5" name="Footer Placeholder 4">
            <a:extLst>
              <a:ext uri="{FF2B5EF4-FFF2-40B4-BE49-F238E27FC236}">
                <a16:creationId xmlns:a16="http://schemas.microsoft.com/office/drawing/2014/main" id="{F1A508CB-8084-17AE-E8F6-8BB40F27FCF9}"/>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B6901E2F-2702-0349-22CA-6474A8FF4440}"/>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3010945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3D0797-AF46-BDF8-F3FA-1F715ECA48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pt-BR"/>
          </a:p>
        </p:txBody>
      </p:sp>
      <p:sp>
        <p:nvSpPr>
          <p:cNvPr id="3" name="Vertical Text Placeholder 2">
            <a:extLst>
              <a:ext uri="{FF2B5EF4-FFF2-40B4-BE49-F238E27FC236}">
                <a16:creationId xmlns:a16="http://schemas.microsoft.com/office/drawing/2014/main" id="{0067122F-7A9E-1247-3ABC-30239226E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F63BB3D6-1D01-D6F6-289C-F1E24B3912D4}"/>
              </a:ext>
            </a:extLst>
          </p:cNvPr>
          <p:cNvSpPr>
            <a:spLocks noGrp="1"/>
          </p:cNvSpPr>
          <p:nvPr>
            <p:ph type="dt" sz="half" idx="10"/>
          </p:nvPr>
        </p:nvSpPr>
        <p:spPr/>
        <p:txBody>
          <a:bodyPr/>
          <a:lstStyle/>
          <a:p>
            <a:fld id="{7BF1EFF9-EEB7-4840-B4A6-7D05B9478714}" type="datetimeFigureOut">
              <a:rPr lang="pt-BR" smtClean="0"/>
              <a:t>07/07/2025</a:t>
            </a:fld>
            <a:endParaRPr lang="pt-BR"/>
          </a:p>
        </p:txBody>
      </p:sp>
      <p:sp>
        <p:nvSpPr>
          <p:cNvPr id="5" name="Footer Placeholder 4">
            <a:extLst>
              <a:ext uri="{FF2B5EF4-FFF2-40B4-BE49-F238E27FC236}">
                <a16:creationId xmlns:a16="http://schemas.microsoft.com/office/drawing/2014/main" id="{12CB0A41-E2D1-F141-4C98-C5621EAF1D87}"/>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D1621F1D-3870-A53C-0B76-3C67F8A7ACC4}"/>
              </a:ext>
            </a:extLst>
          </p:cNvPr>
          <p:cNvSpPr>
            <a:spLocks noGrp="1"/>
          </p:cNvSpPr>
          <p:nvPr>
            <p:ph type="sldNum" sz="quarter" idx="12"/>
          </p:nvPr>
        </p:nvSpPr>
        <p:spPr/>
        <p:txBody>
          <a:bodyPr/>
          <a:lstStyle/>
          <a:p>
            <a:fld id="{F93BB37F-49ED-4DFB-8379-77C925C206CA}" type="slidenum">
              <a:rPr lang="pt-BR" smtClean="0"/>
              <a:t>‹#›</a:t>
            </a:fld>
            <a:endParaRPr lang="pt-BR"/>
          </a:p>
        </p:txBody>
      </p:sp>
    </p:spTree>
    <p:extLst>
      <p:ext uri="{BB962C8B-B14F-4D97-AF65-F5344CB8AC3E}">
        <p14:creationId xmlns:p14="http://schemas.microsoft.com/office/powerpoint/2010/main" val="1032744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CDF929-2937-3807-82F5-D1916B02F4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t-BR"/>
          </a:p>
        </p:txBody>
      </p:sp>
      <p:sp>
        <p:nvSpPr>
          <p:cNvPr id="3" name="Text Placeholder 2">
            <a:extLst>
              <a:ext uri="{FF2B5EF4-FFF2-40B4-BE49-F238E27FC236}">
                <a16:creationId xmlns:a16="http://schemas.microsoft.com/office/drawing/2014/main" id="{67C9C673-CFAB-8011-B89D-BCBED5670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4" name="Date Placeholder 3">
            <a:extLst>
              <a:ext uri="{FF2B5EF4-FFF2-40B4-BE49-F238E27FC236}">
                <a16:creationId xmlns:a16="http://schemas.microsoft.com/office/drawing/2014/main" id="{1EA6BE31-76ED-F53D-30E3-44BF20C031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F1EFF9-EEB7-4840-B4A6-7D05B9478714}" type="datetimeFigureOut">
              <a:rPr lang="pt-BR" smtClean="0"/>
              <a:t>07/07/2025</a:t>
            </a:fld>
            <a:endParaRPr lang="pt-BR"/>
          </a:p>
        </p:txBody>
      </p:sp>
      <p:sp>
        <p:nvSpPr>
          <p:cNvPr id="5" name="Footer Placeholder 4">
            <a:extLst>
              <a:ext uri="{FF2B5EF4-FFF2-40B4-BE49-F238E27FC236}">
                <a16:creationId xmlns:a16="http://schemas.microsoft.com/office/drawing/2014/main" id="{F81721C5-79FA-E00A-1109-60C9A40227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a:extLst>
              <a:ext uri="{FF2B5EF4-FFF2-40B4-BE49-F238E27FC236}">
                <a16:creationId xmlns:a16="http://schemas.microsoft.com/office/drawing/2014/main" id="{6D5D8A90-556C-90C1-D832-9B74E9B584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3BB37F-49ED-4DFB-8379-77C925C206CA}" type="slidenum">
              <a:rPr lang="pt-BR" smtClean="0"/>
              <a:t>‹#›</a:t>
            </a:fld>
            <a:endParaRPr lang="pt-BR"/>
          </a:p>
        </p:txBody>
      </p:sp>
    </p:spTree>
    <p:extLst>
      <p:ext uri="{BB962C8B-B14F-4D97-AF65-F5344CB8AC3E}">
        <p14:creationId xmlns:p14="http://schemas.microsoft.com/office/powerpoint/2010/main" val="2878918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64DA8-4729-90FF-6D20-0C1DC063AA22}"/>
              </a:ext>
            </a:extLst>
          </p:cNvPr>
          <p:cNvSpPr>
            <a:spLocks noGrp="1"/>
          </p:cNvSpPr>
          <p:nvPr>
            <p:ph type="ctrTitle"/>
          </p:nvPr>
        </p:nvSpPr>
        <p:spPr/>
        <p:txBody>
          <a:bodyPr/>
          <a:lstStyle/>
          <a:p>
            <a:r>
              <a:rPr lang="en-US" dirty="0"/>
              <a:t>Team Lab Results Report</a:t>
            </a:r>
            <a:endParaRPr lang="pt-BR" dirty="0"/>
          </a:p>
        </p:txBody>
      </p:sp>
      <p:sp>
        <p:nvSpPr>
          <p:cNvPr id="3" name="Subtitle 2">
            <a:extLst>
              <a:ext uri="{FF2B5EF4-FFF2-40B4-BE49-F238E27FC236}">
                <a16:creationId xmlns:a16="http://schemas.microsoft.com/office/drawing/2014/main" id="{FE0916ED-B0DF-1275-07DB-096F22C8441F}"/>
              </a:ext>
            </a:extLst>
          </p:cNvPr>
          <p:cNvSpPr>
            <a:spLocks noGrp="1"/>
          </p:cNvSpPr>
          <p:nvPr>
            <p:ph type="subTitle" idx="1"/>
          </p:nvPr>
        </p:nvSpPr>
        <p:spPr/>
        <p:txBody>
          <a:bodyPr>
            <a:normAutofit lnSpcReduction="10000"/>
          </a:bodyPr>
          <a:lstStyle/>
          <a:p>
            <a:r>
              <a:rPr lang="en-US" b="1" dirty="0"/>
              <a:t>Deepfake Audio Detection Models</a:t>
            </a:r>
            <a:endParaRPr lang="pt-BR" b="1" dirty="0"/>
          </a:p>
          <a:p>
            <a:endParaRPr lang="pt-BR" b="1" dirty="0"/>
          </a:p>
          <a:p>
            <a:r>
              <a:rPr lang="pt-BR" dirty="0"/>
              <a:t>Felipe Nobrega &amp; Zheng Lin</a:t>
            </a:r>
          </a:p>
          <a:p>
            <a:r>
              <a:rPr lang="pt-BR" dirty="0"/>
              <a:t>University of Stuttgart</a:t>
            </a:r>
            <a:endParaRPr lang="en-US" dirty="0"/>
          </a:p>
        </p:txBody>
      </p:sp>
    </p:spTree>
    <p:extLst>
      <p:ext uri="{BB962C8B-B14F-4D97-AF65-F5344CB8AC3E}">
        <p14:creationId xmlns:p14="http://schemas.microsoft.com/office/powerpoint/2010/main" val="167358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B75E0-802A-F9F4-2FB8-B4E8A435D10B}"/>
              </a:ext>
            </a:extLst>
          </p:cNvPr>
          <p:cNvSpPr>
            <a:spLocks noGrp="1"/>
          </p:cNvSpPr>
          <p:nvPr>
            <p:ph type="title"/>
          </p:nvPr>
        </p:nvSpPr>
        <p:spPr/>
        <p:txBody>
          <a:bodyPr/>
          <a:lstStyle/>
          <a:p>
            <a:r>
              <a:rPr lang="en-US" dirty="0"/>
              <a:t>CNN with Wav2Vec v2 - Specifications</a:t>
            </a:r>
            <a:endParaRPr lang="pt-BR" dirty="0"/>
          </a:p>
        </p:txBody>
      </p:sp>
      <p:sp>
        <p:nvSpPr>
          <p:cNvPr id="3" name="Content Placeholder 2">
            <a:extLst>
              <a:ext uri="{FF2B5EF4-FFF2-40B4-BE49-F238E27FC236}">
                <a16:creationId xmlns:a16="http://schemas.microsoft.com/office/drawing/2014/main" id="{C48E4200-4DA8-99CA-1612-3CA20CFF9C09}"/>
              </a:ext>
            </a:extLst>
          </p:cNvPr>
          <p:cNvSpPr>
            <a:spLocks noGrp="1"/>
          </p:cNvSpPr>
          <p:nvPr>
            <p:ph idx="1"/>
          </p:nvPr>
        </p:nvSpPr>
        <p:spPr>
          <a:xfrm>
            <a:off x="838200" y="1499054"/>
            <a:ext cx="10515600" cy="4351338"/>
          </a:xfrm>
        </p:spPr>
        <p:txBody>
          <a:bodyPr>
            <a:noAutofit/>
          </a:bodyPr>
          <a:lstStyle/>
          <a:p>
            <a:pPr marL="0" indent="0">
              <a:buNone/>
            </a:pPr>
            <a:r>
              <a:rPr lang="en-US" sz="1400" b="1" dirty="0"/>
              <a:t>Input Features:</a:t>
            </a:r>
            <a:r>
              <a:rPr lang="en-US" sz="1400" dirty="0"/>
              <a:t> Wav2Vec2 embeddings (768 dimensions) with a sequence length of 199 timeframes.</a:t>
            </a:r>
          </a:p>
          <a:p>
            <a:pPr marL="0" indent="0">
              <a:buNone/>
            </a:pPr>
            <a:r>
              <a:rPr lang="en-US" sz="1400" b="1" dirty="0"/>
              <a:t>Convolutional Layers:</a:t>
            </a:r>
            <a:r>
              <a:rPr lang="en-US" sz="1400" dirty="0"/>
              <a:t> Three 1D convolutional layers with ReLU activation and Batch Normalization:</a:t>
            </a:r>
          </a:p>
          <a:p>
            <a:pPr marL="457200" lvl="1" indent="0">
              <a:buNone/>
            </a:pPr>
            <a:r>
              <a:rPr lang="en-US" sz="1200" dirty="0"/>
              <a:t>Layer 1: 32 filters, kernel size 3, stride 1</a:t>
            </a:r>
          </a:p>
          <a:p>
            <a:pPr marL="457200" lvl="1" indent="0">
              <a:buNone/>
            </a:pPr>
            <a:r>
              <a:rPr lang="en-US" sz="1200" dirty="0"/>
              <a:t>Layer 2: 64 filters, kernel size 3, stride 1</a:t>
            </a:r>
          </a:p>
          <a:p>
            <a:pPr marL="457200" lvl="1" indent="0">
              <a:buNone/>
            </a:pPr>
            <a:r>
              <a:rPr lang="en-US" sz="1200" dirty="0"/>
              <a:t>Layer 3: 128 filters, kernel size 3, stride 1</a:t>
            </a:r>
          </a:p>
          <a:p>
            <a:pPr marL="0" indent="0">
              <a:buNone/>
            </a:pPr>
            <a:r>
              <a:rPr lang="en-US" sz="1400" b="1" dirty="0"/>
              <a:t>Pooling:</a:t>
            </a:r>
            <a:r>
              <a:rPr lang="en-US" sz="1400" dirty="0"/>
              <a:t> Max pooling layers (kernel size 2, stride 2) are applied after each convolutional layer to reduce dimensionality.</a:t>
            </a:r>
          </a:p>
          <a:p>
            <a:pPr marL="0" indent="0">
              <a:buNone/>
            </a:pPr>
            <a:r>
              <a:rPr lang="en-US" sz="1400" b="1" dirty="0"/>
              <a:t>Fully Connected Layers:</a:t>
            </a:r>
            <a:endParaRPr lang="en-US" sz="1400" dirty="0"/>
          </a:p>
          <a:p>
            <a:pPr marL="457200" lvl="1" indent="0">
              <a:buNone/>
            </a:pPr>
            <a:r>
              <a:rPr lang="en-US" sz="1200" dirty="0"/>
              <a:t>First Layer: Linear layer with 256 neurons.</a:t>
            </a:r>
          </a:p>
          <a:p>
            <a:pPr marL="457200" lvl="1" indent="0">
              <a:buNone/>
            </a:pPr>
            <a:r>
              <a:rPr lang="en-US" sz="1200" dirty="0"/>
              <a:t>Second Layer: Linear layer with 64 neurons.</a:t>
            </a:r>
          </a:p>
          <a:p>
            <a:pPr marL="457200" lvl="1" indent="0">
              <a:buNone/>
            </a:pPr>
            <a:r>
              <a:rPr lang="en-US" sz="1200" dirty="0"/>
              <a:t>Output Layer: Linear layer with 1 neuron (sigmoid activation for binary classification).</a:t>
            </a:r>
          </a:p>
          <a:p>
            <a:pPr marL="0" indent="0">
              <a:buNone/>
            </a:pPr>
            <a:r>
              <a:rPr lang="en-US" sz="1400" b="1" dirty="0"/>
              <a:t>Regularization:</a:t>
            </a:r>
            <a:r>
              <a:rPr lang="en-US" sz="1400" dirty="0"/>
              <a:t> Dropout with a probability of 0.5 is applied after the convolutional layers and the first fully connected layer to prevent overfitting.</a:t>
            </a:r>
          </a:p>
          <a:p>
            <a:pPr marL="0" indent="0">
              <a:buNone/>
            </a:pPr>
            <a:r>
              <a:rPr lang="en-US" sz="1400" b="1" dirty="0"/>
              <a:t>Activation Function:</a:t>
            </a:r>
            <a:r>
              <a:rPr lang="en-US" sz="1400" dirty="0"/>
              <a:t> ReLU (Rectified Linear Unit) is used in the convolutional and fully connected layers.</a:t>
            </a:r>
          </a:p>
          <a:p>
            <a:pPr marL="0" indent="0">
              <a:buNone/>
            </a:pPr>
            <a:r>
              <a:rPr lang="en-US" sz="1400" b="1" dirty="0"/>
              <a:t>Loss Function:</a:t>
            </a:r>
            <a:r>
              <a:rPr lang="en-US" sz="1400" dirty="0"/>
              <a:t> Binary Cross-Entropy Loss.</a:t>
            </a:r>
          </a:p>
          <a:p>
            <a:pPr marL="0" indent="0">
              <a:buNone/>
            </a:pPr>
            <a:r>
              <a:rPr lang="en-US" sz="1400" b="1" dirty="0"/>
              <a:t>Optimizer:</a:t>
            </a:r>
            <a:r>
              <a:rPr lang="en-US" sz="1400" dirty="0"/>
              <a:t> Adam optimizer.</a:t>
            </a:r>
          </a:p>
          <a:p>
            <a:pPr marL="0" indent="0">
              <a:buNone/>
            </a:pPr>
            <a:r>
              <a:rPr lang="en-US" sz="1400" b="1" dirty="0"/>
              <a:t>Rationale:</a:t>
            </a:r>
            <a:endParaRPr lang="en-US" sz="1400" dirty="0"/>
          </a:p>
          <a:p>
            <a:pPr marL="0" indent="0">
              <a:buNone/>
            </a:pPr>
            <a:r>
              <a:rPr lang="en-US" sz="1400" dirty="0"/>
              <a:t>The CNN architecture is chosen for its ability to learn local patterns in the frequency domain of the audio signal. The Wav2Vec2 embeddings provide a rich, pre-trained representation of the audio, capturing both spectral and temporal information. The addition of Batch Normalization and Dropout enhances training stability and generalization performance. This model prioritizes explainability, allowing for visualization of feature importance using techniques like Grad-CAM.</a:t>
            </a:r>
          </a:p>
          <a:p>
            <a:pPr marL="0" indent="0">
              <a:buNone/>
            </a:pPr>
            <a:endParaRPr lang="pt-BR" sz="300" dirty="0"/>
          </a:p>
        </p:txBody>
      </p:sp>
    </p:spTree>
    <p:extLst>
      <p:ext uri="{BB962C8B-B14F-4D97-AF65-F5344CB8AC3E}">
        <p14:creationId xmlns:p14="http://schemas.microsoft.com/office/powerpoint/2010/main" val="3817570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3796-59F2-CFD0-2B60-2A1B7CED9383}"/>
              </a:ext>
            </a:extLst>
          </p:cNvPr>
          <p:cNvSpPr>
            <a:spLocks noGrp="1"/>
          </p:cNvSpPr>
          <p:nvPr>
            <p:ph type="title"/>
          </p:nvPr>
        </p:nvSpPr>
        <p:spPr/>
        <p:txBody>
          <a:bodyPr/>
          <a:lstStyle/>
          <a:p>
            <a:r>
              <a:rPr lang="en-US" dirty="0"/>
              <a:t>CNN with Wav2Vec v2 - Results</a:t>
            </a:r>
            <a:endParaRPr lang="pt-BR" dirty="0"/>
          </a:p>
        </p:txBody>
      </p:sp>
      <p:graphicFrame>
        <p:nvGraphicFramePr>
          <p:cNvPr id="4" name="Content Placeholder 3">
            <a:extLst>
              <a:ext uri="{FF2B5EF4-FFF2-40B4-BE49-F238E27FC236}">
                <a16:creationId xmlns:a16="http://schemas.microsoft.com/office/drawing/2014/main" id="{DCC23AAC-96EF-B00D-0EA6-ABBFCD818539}"/>
              </a:ext>
            </a:extLst>
          </p:cNvPr>
          <p:cNvGraphicFramePr>
            <a:graphicFrameLocks noGrp="1"/>
          </p:cNvGraphicFramePr>
          <p:nvPr>
            <p:ph idx="1"/>
            <p:extLst>
              <p:ext uri="{D42A27DB-BD31-4B8C-83A1-F6EECF244321}">
                <p14:modId xmlns:p14="http://schemas.microsoft.com/office/powerpoint/2010/main" val="2778556734"/>
              </p:ext>
            </p:extLst>
          </p:nvPr>
        </p:nvGraphicFramePr>
        <p:xfrm>
          <a:off x="838200" y="1825625"/>
          <a:ext cx="10515600" cy="7416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86543850"/>
                    </a:ext>
                  </a:extLst>
                </a:gridCol>
                <a:gridCol w="5257800">
                  <a:extLst>
                    <a:ext uri="{9D8B030D-6E8A-4147-A177-3AD203B41FA5}">
                      <a16:colId xmlns:a16="http://schemas.microsoft.com/office/drawing/2014/main" val="2356058828"/>
                    </a:ext>
                  </a:extLst>
                </a:gridCol>
              </a:tblGrid>
              <a:tr h="370840">
                <a:tc>
                  <a:txBody>
                    <a:bodyPr/>
                    <a:lstStyle/>
                    <a:p>
                      <a:r>
                        <a:rPr lang="en-US" dirty="0"/>
                        <a:t>Training Loop – Train/Val</a:t>
                      </a:r>
                      <a:endParaRPr lang="pt-BR" dirty="0"/>
                    </a:p>
                  </a:txBody>
                  <a:tcPr/>
                </a:tc>
                <a:tc>
                  <a:txBody>
                    <a:bodyPr/>
                    <a:lstStyle/>
                    <a:p>
                      <a:r>
                        <a:rPr lang="en-US" dirty="0"/>
                        <a:t>Test Set – Final Results</a:t>
                      </a:r>
                      <a:endParaRPr lang="pt-BR" dirty="0"/>
                    </a:p>
                  </a:txBody>
                  <a:tcPr/>
                </a:tc>
                <a:extLst>
                  <a:ext uri="{0D108BD9-81ED-4DB2-BD59-A6C34878D82A}">
                    <a16:rowId xmlns:a16="http://schemas.microsoft.com/office/drawing/2014/main" val="732408860"/>
                  </a:ext>
                </a:extLst>
              </a:tr>
              <a:tr h="370840">
                <a:tc>
                  <a:txBody>
                    <a:bodyPr/>
                    <a:lstStyle/>
                    <a:p>
                      <a:endParaRPr lang="pt-BR" dirty="0"/>
                    </a:p>
                  </a:txBody>
                  <a:tcPr/>
                </a:tc>
                <a:tc>
                  <a:txBody>
                    <a:bodyPr/>
                    <a:lstStyle/>
                    <a:p>
                      <a:endParaRPr lang="pt-BR" dirty="0"/>
                    </a:p>
                  </a:txBody>
                  <a:tcPr/>
                </a:tc>
                <a:extLst>
                  <a:ext uri="{0D108BD9-81ED-4DB2-BD59-A6C34878D82A}">
                    <a16:rowId xmlns:a16="http://schemas.microsoft.com/office/drawing/2014/main" val="416856037"/>
                  </a:ext>
                </a:extLst>
              </a:tr>
            </a:tbl>
          </a:graphicData>
        </a:graphic>
      </p:graphicFrame>
    </p:spTree>
    <p:extLst>
      <p:ext uri="{BB962C8B-B14F-4D97-AF65-F5344CB8AC3E}">
        <p14:creationId xmlns:p14="http://schemas.microsoft.com/office/powerpoint/2010/main" val="4025491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05127-8829-0607-4FFD-2ED52AD5F6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A1E96E-7A7F-B3F2-8B53-EC3FC2AD0EA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29636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3796-59F2-CFD0-2B60-2A1B7CED9383}"/>
              </a:ext>
            </a:extLst>
          </p:cNvPr>
          <p:cNvSpPr>
            <a:spLocks noGrp="1"/>
          </p:cNvSpPr>
          <p:nvPr>
            <p:ph type="title"/>
          </p:nvPr>
        </p:nvSpPr>
        <p:spPr/>
        <p:txBody>
          <a:bodyPr/>
          <a:lstStyle/>
          <a:p>
            <a:r>
              <a:rPr lang="en-US" dirty="0"/>
              <a:t>CNN with LFCC + Delta + Delta v5 - Results</a:t>
            </a:r>
            <a:endParaRPr lang="pt-BR" dirty="0"/>
          </a:p>
        </p:txBody>
      </p:sp>
      <p:graphicFrame>
        <p:nvGraphicFramePr>
          <p:cNvPr id="4" name="Content Placeholder 3">
            <a:extLst>
              <a:ext uri="{FF2B5EF4-FFF2-40B4-BE49-F238E27FC236}">
                <a16:creationId xmlns:a16="http://schemas.microsoft.com/office/drawing/2014/main" id="{DCC23AAC-96EF-B00D-0EA6-ABBFCD818539}"/>
              </a:ext>
            </a:extLst>
          </p:cNvPr>
          <p:cNvGraphicFramePr>
            <a:graphicFrameLocks noGrp="1"/>
          </p:cNvGraphicFramePr>
          <p:nvPr>
            <p:ph idx="1"/>
            <p:extLst>
              <p:ext uri="{D42A27DB-BD31-4B8C-83A1-F6EECF244321}">
                <p14:modId xmlns:p14="http://schemas.microsoft.com/office/powerpoint/2010/main" val="3442150092"/>
              </p:ext>
            </p:extLst>
          </p:nvPr>
        </p:nvGraphicFramePr>
        <p:xfrm>
          <a:off x="838200" y="1825625"/>
          <a:ext cx="10515600" cy="48514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186543850"/>
                    </a:ext>
                  </a:extLst>
                </a:gridCol>
                <a:gridCol w="5257800">
                  <a:extLst>
                    <a:ext uri="{9D8B030D-6E8A-4147-A177-3AD203B41FA5}">
                      <a16:colId xmlns:a16="http://schemas.microsoft.com/office/drawing/2014/main" val="2356058828"/>
                    </a:ext>
                  </a:extLst>
                </a:gridCol>
              </a:tblGrid>
              <a:tr h="370840">
                <a:tc>
                  <a:txBody>
                    <a:bodyPr/>
                    <a:lstStyle/>
                    <a:p>
                      <a:r>
                        <a:rPr lang="en-US" dirty="0"/>
                        <a:t>Training Loop – Train/Val</a:t>
                      </a:r>
                      <a:endParaRPr lang="pt-BR" dirty="0"/>
                    </a:p>
                  </a:txBody>
                  <a:tcPr/>
                </a:tc>
                <a:tc>
                  <a:txBody>
                    <a:bodyPr/>
                    <a:lstStyle/>
                    <a:p>
                      <a:r>
                        <a:rPr lang="en-US" dirty="0"/>
                        <a:t>Test Set – Final Results</a:t>
                      </a:r>
                      <a:endParaRPr lang="pt-BR" dirty="0"/>
                    </a:p>
                  </a:txBody>
                  <a:tcPr/>
                </a:tc>
                <a:extLst>
                  <a:ext uri="{0D108BD9-81ED-4DB2-BD59-A6C34878D82A}">
                    <a16:rowId xmlns:a16="http://schemas.microsoft.com/office/drawing/2014/main" val="732408860"/>
                  </a:ext>
                </a:extLst>
              </a:tr>
              <a:tr h="370840">
                <a:tc>
                  <a:txBody>
                    <a:bodyPr/>
                    <a:lstStyle/>
                    <a:p>
                      <a:r>
                        <a:rPr lang="en-US" sz="1800" b="0" i="0" kern="1200" dirty="0">
                          <a:solidFill>
                            <a:schemeClr val="dk1"/>
                          </a:solidFill>
                          <a:effectLst/>
                          <a:latin typeface="+mn-lt"/>
                          <a:ea typeface="+mn-ea"/>
                          <a:cs typeface="+mn-cs"/>
                        </a:rPr>
                        <a:t>Epoch [42/100] | Train Loss: 0.0405, Acc: 99.20% | Val Loss: 0.0152, Acc: 99.87% | Val EER: 0.27%</a:t>
                      </a:r>
                      <a:endParaRPr lang="pt-BR" dirty="0"/>
                    </a:p>
                  </a:txBody>
                  <a:tcPr/>
                </a:tc>
                <a:tc>
                  <a:txBody>
                    <a:bodyPr/>
                    <a:lstStyle/>
                    <a:p>
                      <a:r>
                        <a:rPr lang="en-US" sz="1800" b="0" i="0" kern="1200" dirty="0">
                          <a:solidFill>
                            <a:schemeClr val="dk1"/>
                          </a:solidFill>
                          <a:effectLst/>
                          <a:latin typeface="+mn-lt"/>
                          <a:ea typeface="+mn-ea"/>
                          <a:cs typeface="+mn-cs"/>
                        </a:rPr>
                        <a:t>Evaluation Set: Loss: 0.9477 | Accuracy: 69.27% EER: 7.42% | Logit Threshold: 4.3701 | Prob Threshold: 0.9875 F1 Score: 0.7203 Precision: 0.5895 Recall: 0.9258 Predictions: [1]: 11550 | [0]: 59687</a:t>
                      </a:r>
                    </a:p>
                    <a:p>
                      <a:endParaRPr lang="en-US" sz="1800" b="0" i="0" kern="1200" dirty="0">
                        <a:solidFill>
                          <a:schemeClr val="dk1"/>
                        </a:solidFill>
                        <a:effectLst/>
                        <a:latin typeface="+mn-lt"/>
                        <a:ea typeface="+mn-ea"/>
                        <a:cs typeface="+mn-cs"/>
                      </a:endParaRPr>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txBody>
                  <a:tcPr/>
                </a:tc>
                <a:extLst>
                  <a:ext uri="{0D108BD9-81ED-4DB2-BD59-A6C34878D82A}">
                    <a16:rowId xmlns:a16="http://schemas.microsoft.com/office/drawing/2014/main" val="416856037"/>
                  </a:ext>
                </a:extLst>
              </a:tr>
            </a:tbl>
          </a:graphicData>
        </a:graphic>
      </p:graphicFrame>
      <p:pic>
        <p:nvPicPr>
          <p:cNvPr id="5" name="Picture 4">
            <a:extLst>
              <a:ext uri="{FF2B5EF4-FFF2-40B4-BE49-F238E27FC236}">
                <a16:creationId xmlns:a16="http://schemas.microsoft.com/office/drawing/2014/main" id="{AFB2D557-7F73-15DB-6D8C-39804AA821EC}"/>
              </a:ext>
            </a:extLst>
          </p:cNvPr>
          <p:cNvPicPr>
            <a:picLocks noChangeAspect="1"/>
          </p:cNvPicPr>
          <p:nvPr/>
        </p:nvPicPr>
        <p:blipFill>
          <a:blip r:embed="rId2"/>
          <a:stretch>
            <a:fillRect/>
          </a:stretch>
        </p:blipFill>
        <p:spPr>
          <a:xfrm>
            <a:off x="7272338" y="3900049"/>
            <a:ext cx="2916691" cy="2486463"/>
          </a:xfrm>
          <a:prstGeom prst="rect">
            <a:avLst/>
          </a:prstGeom>
        </p:spPr>
      </p:pic>
    </p:spTree>
    <p:extLst>
      <p:ext uri="{BB962C8B-B14F-4D97-AF65-F5344CB8AC3E}">
        <p14:creationId xmlns:p14="http://schemas.microsoft.com/office/powerpoint/2010/main" val="3077883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391</Words>
  <Application>Microsoft Office PowerPoint</Application>
  <PresentationFormat>Widescreen</PresentationFormat>
  <Paragraphs>39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Team Lab Results Report</vt:lpstr>
      <vt:lpstr>CNN with Wav2Vec v2 - Specifications</vt:lpstr>
      <vt:lpstr>CNN with Wav2Vec v2 - Results</vt:lpstr>
      <vt:lpstr>PowerPoint Presentation</vt:lpstr>
      <vt:lpstr>CNN with LFCC + Delta + Delta v5 -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Felipe Augusto Nobrega</dc:creator>
  <cp:lastModifiedBy>Felipe Nobrega</cp:lastModifiedBy>
  <cp:revision>2</cp:revision>
  <dcterms:created xsi:type="dcterms:W3CDTF">2025-06-29T15:40:16Z</dcterms:created>
  <dcterms:modified xsi:type="dcterms:W3CDTF">2025-07-07T21:58:33Z</dcterms:modified>
</cp:coreProperties>
</file>